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2743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</a:defRPr>
            </a:pPr>
            <a:r>
              <a:t>🧠 AiProff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D9488"/>
                </a:solidFill>
              </a:defRPr>
            </a:pPr>
            <a:r>
              <a:t>EDGEMINDS Internship 2026 – Project Summary and Final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1072865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F172A"/>
                </a:solidFill>
              </a:defRPr>
            </a:pPr>
            <a:r>
              <a:t>EduMind</a:t>
            </a:r>
          </a:p>
          <a:p>
            <a:pPr>
              <a:spcBef>
                <a:spcPts val="400"/>
              </a:spcBef>
              <a:defRPr sz="1600" i="1">
                <a:solidFill>
                  <a:srgbClr val="475569"/>
                </a:solidFill>
              </a:defRPr>
            </a:pPr>
            <a:r>
              <a:t>Edge-AI Offline RAG MCQ &amp; Pagewise Note Generator Engine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474720"/>
            <a:ext cx="2468880" cy="11887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37160" rIns="137160" bIns="137160" wrap="square"/>
          <a:lstStyle/>
          <a:p>
            <a:pPr algn="ctr">
              <a:defRPr sz="1300" b="1">
                <a:solidFill>
                  <a:srgbClr val="0F172A"/>
                </a:solidFill>
              </a:defRPr>
            </a:pPr>
            <a:r>
              <a:t>Team Name</a:t>
            </a:r>
          </a:p>
          <a:p>
            <a:pPr>
              <a:spcBef>
                <a:spcPts val="400"/>
              </a:spcBef>
              <a:defRPr sz="1100">
                <a:solidFill>
                  <a:srgbClr val="475569"/>
                </a:solidFill>
              </a:defRPr>
            </a:pPr>
            <a:r>
              <a:t>Edge Thinkers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3474720"/>
            <a:ext cx="2468880" cy="11887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37160" rIns="137160" bIns="137160" wrap="square"/>
          <a:lstStyle/>
          <a:p>
            <a:pPr algn="ctr">
              <a:defRPr sz="1300" b="1">
                <a:solidFill>
                  <a:srgbClr val="0F172A"/>
                </a:solidFill>
              </a:defRPr>
            </a:pPr>
            <a:r>
              <a:t>Team Leader</a:t>
            </a:r>
          </a:p>
          <a:p>
            <a:pPr>
              <a:spcBef>
                <a:spcPts val="400"/>
              </a:spcBef>
              <a:defRPr sz="1100">
                <a:solidFill>
                  <a:srgbClr val="475569"/>
                </a:solidFill>
              </a:defRPr>
            </a:pPr>
            <a:r>
              <a:t>Aditya Verma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3474720"/>
            <a:ext cx="2468880" cy="11887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37160" rIns="137160" bIns="137160" wrap="square"/>
          <a:lstStyle/>
          <a:p>
            <a:pPr algn="ctr">
              <a:defRPr sz="1300" b="1">
                <a:solidFill>
                  <a:srgbClr val="0F172A"/>
                </a:solidFill>
              </a:defRPr>
            </a:pPr>
            <a:r>
              <a:t>Institute / Department</a:t>
            </a:r>
          </a:p>
          <a:p>
            <a:pPr>
              <a:spcBef>
                <a:spcPts val="400"/>
              </a:spcBef>
              <a:defRPr sz="1100">
                <a:solidFill>
                  <a:srgbClr val="475569"/>
                </a:solidFill>
              </a:defRPr>
            </a:pPr>
            <a:r>
              <a:t>MMMUT / ECE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61120" y="3474720"/>
            <a:ext cx="2468880" cy="11887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37160" rIns="137160" bIns="137160" wrap="square"/>
          <a:lstStyle/>
          <a:p>
            <a:pPr algn="ctr">
              <a:defRPr sz="1300" b="1">
                <a:solidFill>
                  <a:srgbClr val="0F172A"/>
                </a:solidFill>
              </a:defRPr>
            </a:pPr>
            <a:r>
              <a:t>Track</a:t>
            </a:r>
          </a:p>
          <a:p>
            <a:pPr>
              <a:spcBef>
                <a:spcPts val="400"/>
              </a:spcBef>
              <a:defRPr sz="1100">
                <a:solidFill>
                  <a:srgbClr val="475569"/>
                </a:solidFill>
              </a:defRPr>
            </a:pPr>
            <a:r>
              <a:t>Edge AI / Local RAG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937760"/>
            <a:ext cx="10728655" cy="1005840"/>
          </a:xfrm>
          <a:prstGeom prst="roundRect">
            <a:avLst/>
          </a:prstGeom>
          <a:solidFill>
            <a:srgbClr val="F0FDF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37160" rIns="137160" bIns="137160" wrap="square"/>
          <a:lstStyle/>
          <a:p>
            <a:pPr algn="l">
              <a:defRPr sz="1200" b="1">
                <a:solidFill>
                  <a:srgbClr val="0D9488"/>
                </a:solidFill>
              </a:defRPr>
            </a:pPr>
            <a:r>
              <a:t>Template note</a:t>
            </a:r>
          </a:p>
          <a:p>
            <a:pPr>
              <a:spcBef>
                <a:spcPts val="200"/>
              </a:spcBef>
              <a:defRPr sz="1100">
                <a:solidFill>
                  <a:srgbClr val="0F172A"/>
                </a:solidFill>
              </a:defRPr>
            </a:pPr>
            <a:r>
              <a:t>100% Offline Edge-AI RAG Platform deployed natively on NVIDIA Jetson using Meta Llama 3.2 1B &amp; nomic-embed-text.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EDGEMINDS Internship 2026 – Project Summary and Final Report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00800"/>
            <a:ext cx="9144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D9488"/>
                </a:solidFill>
              </a:defRPr>
            </a:pPr>
            <a:r>
              <a:t>EDGEMINDS Internship 2026 – Project Summary and Final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82296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Meet the Team</a:t>
            </a:r>
          </a:p>
          <a:p>
            <a:pPr>
              <a:spcBef>
                <a:spcPts val="300"/>
              </a:spcBef>
              <a:defRPr sz="1200" i="1">
                <a:solidFill>
                  <a:srgbClr val="475569"/>
                </a:solidFill>
              </a:defRPr>
            </a:pPr>
            <a:r>
              <a:t>Introduce the team in a compact, visual way.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00200"/>
            <a:ext cx="1645920" cy="3657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0" y="365760"/>
            <a:ext cx="2133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1">
                <a:solidFill>
                  <a:srgbClr val="0F172A"/>
                </a:solidFill>
              </a:defRPr>
            </a:pPr>
            <a:r>
              <a:t>🧠 AiProff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rIns="731520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EDGEMINDS Internship 2026 – Project Summary and Final Report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9144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920240"/>
            <a:ext cx="2468880" cy="18288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>
                <a:solidFill>
                  <a:srgbClr val="475569"/>
                </a:solidFill>
              </a:defRPr>
            </a:pPr>
            <a:r>
              <a:t>Add photo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840480"/>
            <a:ext cx="2468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F172A"/>
                </a:solidFill>
              </a:defRPr>
            </a:pPr>
            <a:r>
              <a:t>Aditya Verma</a:t>
            </a:r>
          </a:p>
          <a:p>
            <a:pPr algn="ctr">
              <a:spcBef>
                <a:spcPts val="300"/>
              </a:spcBef>
              <a:defRPr sz="1000">
                <a:solidFill>
                  <a:srgbClr val="475569"/>
                </a:solidFill>
              </a:defRPr>
            </a:pPr>
            <a:r>
              <a:t>Lead Developer (Team Leader)</a:t>
            </a:r>
            <a:br/>
            <a:r>
              <a:t>RAG Architecture &amp; Quality Pipeline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0" y="1920240"/>
            <a:ext cx="2468880" cy="18288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>
                <a:solidFill>
                  <a:srgbClr val="475569"/>
                </a:solidFill>
              </a:defRPr>
            </a:pPr>
            <a:r>
              <a:t>Add photo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3840480"/>
            <a:ext cx="2468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F172A"/>
                </a:solidFill>
              </a:defRPr>
            </a:pPr>
            <a:r>
              <a:t>Satyam Kumar Mishra</a:t>
            </a:r>
          </a:p>
          <a:p>
            <a:pPr algn="ctr">
              <a:spcBef>
                <a:spcPts val="300"/>
              </a:spcBef>
              <a:defRPr sz="1000">
                <a:solidFill>
                  <a:srgbClr val="475569"/>
                </a:solidFill>
              </a:defRPr>
            </a:pPr>
            <a:r>
              <a:t>Systems Engineer</a:t>
            </a:r>
            <a:br/>
            <a:r>
              <a:t>Streamlit Interface &amp; Jetson Deployment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920240"/>
            <a:ext cx="2468880" cy="18288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>
                <a:solidFill>
                  <a:srgbClr val="475569"/>
                </a:solidFill>
              </a:defRPr>
            </a:pPr>
            <a:r>
              <a:t>Add photo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3840480"/>
            <a:ext cx="2468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F172A"/>
                </a:solidFill>
              </a:defRPr>
            </a:pPr>
            <a:r>
              <a:t>Sachin Maurya</a:t>
            </a:r>
          </a:p>
          <a:p>
            <a:pPr algn="ctr">
              <a:spcBef>
                <a:spcPts val="300"/>
              </a:spcBef>
              <a:defRPr sz="1000">
                <a:solidFill>
                  <a:srgbClr val="475569"/>
                </a:solidFill>
              </a:defRPr>
            </a:pPr>
            <a:r>
              <a:t>ML / Data Engineer</a:t>
            </a:r>
            <a:br/>
            <a:r>
              <a:t>PDF Ingestion &amp; Regex OCR Cleaning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61120" y="1920240"/>
            <a:ext cx="2468880" cy="18288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>
                <a:solidFill>
                  <a:srgbClr val="475569"/>
                </a:solidFill>
              </a:defRPr>
            </a:pPr>
            <a:r>
              <a:t>Add photo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3840480"/>
            <a:ext cx="2468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F172A"/>
                </a:solidFill>
              </a:defRPr>
            </a:pPr>
            <a:r>
              <a:t>Ratandeep Shukla</a:t>
            </a:r>
          </a:p>
          <a:p>
            <a:pPr algn="ctr">
              <a:spcBef>
                <a:spcPts val="300"/>
              </a:spcBef>
              <a:defRPr sz="1000">
                <a:solidFill>
                  <a:srgbClr val="475569"/>
                </a:solidFill>
              </a:defRPr>
            </a:pPr>
            <a:r>
              <a:t>Testing &amp; Evaluation Lead</a:t>
            </a:r>
            <a:br/>
            <a:r>
              <a:t>Quiz Quality Gates &amp; Benchmarking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937760"/>
            <a:ext cx="10728655" cy="1005840"/>
          </a:xfrm>
          <a:prstGeom prst="roundRect">
            <a:avLst/>
          </a:prstGeom>
          <a:solidFill>
            <a:srgbClr val="F0FDF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37160" rIns="137160" bIns="137160" wrap="square"/>
          <a:lstStyle/>
          <a:p>
            <a:pPr algn="l">
              <a:defRPr sz="1300" b="1">
                <a:solidFill>
                  <a:srgbClr val="0D9488"/>
                </a:solidFill>
              </a:defRPr>
            </a:pPr>
            <a:r>
              <a:t>What to include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Add clear photos, names, roles, and one line on contribution. Mark the team leader if needed.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D9488"/>
                </a:solidFill>
              </a:defRPr>
            </a:pPr>
            <a:r>
              <a:t>EDGEMINDS Internship 2026 – Project Summary and Final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82296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Problem Statement</a:t>
            </a:r>
          </a:p>
          <a:p>
            <a:pPr>
              <a:spcBef>
                <a:spcPts val="300"/>
              </a:spcBef>
              <a:defRPr sz="1200" i="1">
                <a:solidFill>
                  <a:srgbClr val="475569"/>
                </a:solidFill>
              </a:defRPr>
            </a:pPr>
            <a:r>
              <a:t>Define the problem you are solving and who faces it.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00200"/>
            <a:ext cx="1645920" cy="3657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0" y="365760"/>
            <a:ext cx="2133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1">
                <a:solidFill>
                  <a:srgbClr val="0F172A"/>
                </a:solidFill>
              </a:defRPr>
            </a:pPr>
            <a:r>
              <a:t>🧠 AiProff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rIns="731520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EDGEMINDS Internship 2026 – Project Summary and Final Report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9144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920240"/>
            <a:ext cx="5212080" cy="12801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37160" rIns="137160" bIns="137160" wrap="square"/>
          <a:lstStyle/>
          <a:p>
            <a:pPr algn="ctr">
              <a:defRPr sz="1400" b="1">
                <a:solidFill>
                  <a:srgbClr val="0F172A"/>
                </a:solidFill>
              </a:defRPr>
            </a:pPr>
            <a:r>
              <a:t>The Problem</a:t>
            </a:r>
          </a:p>
          <a:p>
            <a:pPr>
              <a:spcBef>
                <a:spcPts val="400"/>
              </a:spcBef>
              <a:defRPr sz="1050">
                <a:solidFill>
                  <a:srgbClr val="475569"/>
                </a:solidFill>
              </a:defRPr>
            </a:pPr>
            <a:r>
              <a:t>Traditional educational AI relies on cloud APIs requiring constant internet, incurring high recurring costs, and producing broken PDF text encodings.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291840"/>
            <a:ext cx="2468880" cy="1463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37160" rIns="137160" bIns="137160" wrap="square"/>
          <a:lstStyle/>
          <a:p>
            <a:pPr algn="ctr">
              <a:defRPr sz="1400" b="1">
                <a:solidFill>
                  <a:srgbClr val="0F172A"/>
                </a:solidFill>
              </a:defRPr>
            </a:pPr>
            <a:r>
              <a:t>Who Faces It</a:t>
            </a:r>
          </a:p>
          <a:p>
            <a:pPr>
              <a:spcBef>
                <a:spcPts val="400"/>
              </a:spcBef>
              <a:defRPr sz="1000">
                <a:solidFill>
                  <a:srgbClr val="475569"/>
                </a:solidFill>
              </a:defRPr>
            </a:pPr>
            <a:r>
              <a:t>University students, educators, and institutions in offline or low-bandwidth exam labs.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0" y="3291840"/>
            <a:ext cx="2468880" cy="1463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37160" rIns="137160" bIns="137160" wrap="square"/>
          <a:lstStyle/>
          <a:p>
            <a:pPr algn="ctr">
              <a:defRPr sz="1400" b="1">
                <a:solidFill>
                  <a:srgbClr val="0F172A"/>
                </a:solidFill>
              </a:defRPr>
            </a:pPr>
            <a:r>
              <a:t>Current Pain Points</a:t>
            </a:r>
          </a:p>
          <a:p>
            <a:pPr>
              <a:spcBef>
                <a:spcPts val="400"/>
              </a:spcBef>
              <a:defRPr sz="1000">
                <a:solidFill>
                  <a:srgbClr val="475569"/>
                </a:solidFill>
              </a:defRPr>
            </a:pPr>
            <a:r>
              <a:t>1. High Cloud Dependency</a:t>
            </a:r>
            <a:br/>
            <a:r>
              <a:t>2. Broken Font Encodings</a:t>
            </a:r>
            <a:br/>
            <a:r>
              <a:t>3. Low Rote MCQ Quality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8095" y="1920240"/>
            <a:ext cx="5212080" cy="1828800"/>
          </a:xfrm>
          <a:prstGeom prst="roundRect">
            <a:avLst/>
          </a:prstGeom>
          <a:solidFill>
            <a:srgbClr val="F0FDF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37160" rIns="137160" bIns="137160" wrap="square"/>
          <a:lstStyle/>
          <a:p>
            <a:pPr algn="l">
              <a:defRPr sz="1300" b="1">
                <a:solidFill>
                  <a:srgbClr val="0D9488"/>
                </a:solidFill>
              </a:defRPr>
            </a:pPr>
            <a:r>
              <a:t>What to include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State the problem crisply, identify the target user, and show why existing cloud-based options are weak in air-gapped exam environments.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8095" y="3931920"/>
            <a:ext cx="5212080" cy="20116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37160" rIns="137160" bIns="137160" wrap="square"/>
          <a:lstStyle/>
          <a:p>
            <a:pPr algn="ctr">
              <a:defRPr sz="1400" b="1">
                <a:solidFill>
                  <a:srgbClr val="0F172A"/>
                </a:solidFill>
              </a:defRPr>
            </a:pPr>
            <a:r>
              <a:t>Optional example</a:t>
            </a:r>
          </a:p>
          <a:p>
            <a:pPr>
              <a:spcBef>
                <a:spcPts val="400"/>
              </a:spcBef>
              <a:defRPr sz="1050">
                <a:solidFill>
                  <a:srgbClr val="475569"/>
                </a:solidFill>
              </a:defRPr>
            </a:pPr>
            <a:r>
              <a:t>Raw PDF lecture notes frequently extract broken spacing (e.g. 'c ntr l' instead of 'control'), causing standard vector search engines to fail completely.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D9488"/>
                </a:solidFill>
              </a:defRPr>
            </a:pPr>
            <a:r>
              <a:t>EDGEMINDS Internship 2026 – Project Summary and Final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82296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Why This Problem Matters</a:t>
            </a:r>
          </a:p>
          <a:p>
            <a:pPr>
              <a:spcBef>
                <a:spcPts val="300"/>
              </a:spcBef>
              <a:defRPr sz="1200" i="1">
                <a:solidFill>
                  <a:srgbClr val="475569"/>
                </a:solidFill>
              </a:defRPr>
            </a:pPr>
            <a:r>
              <a:t>Explain why the problem is important and why edge deployment matters.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00200"/>
            <a:ext cx="1645920" cy="3657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0" y="365760"/>
            <a:ext cx="2133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1">
                <a:solidFill>
                  <a:srgbClr val="0F172A"/>
                </a:solidFill>
              </a:defRPr>
            </a:pPr>
            <a:r>
              <a:t>🧠 AiProff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rIns="731520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EDGEMINDS Internship 2026 – Project Summary and Final Report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9144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920240"/>
            <a:ext cx="2468880" cy="28346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37160" rIns="137160" bIns="137160" wrap="square"/>
          <a:lstStyle/>
          <a:p>
            <a:pPr algn="ctr">
              <a:defRPr sz="1500" b="1">
                <a:solidFill>
                  <a:srgbClr val="0F172A"/>
                </a:solidFill>
              </a:defRPr>
            </a:pPr>
            <a:r>
              <a:t>Impact</a:t>
            </a:r>
          </a:p>
          <a:p>
            <a:pPr>
              <a:spcBef>
                <a:spcPts val="800"/>
              </a:spcBef>
              <a:defRPr sz="1100">
                <a:solidFill>
                  <a:srgbClr val="475569"/>
                </a:solidFill>
              </a:defRPr>
            </a:pPr>
            <a:r>
              <a:t>Enables uninterrupted, offline self-assessment for millions of students without cloud fees.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1920240"/>
            <a:ext cx="2468880" cy="28346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37160" rIns="137160" bIns="137160" wrap="square"/>
          <a:lstStyle/>
          <a:p>
            <a:pPr algn="ctr">
              <a:defRPr sz="1500" b="1">
                <a:solidFill>
                  <a:srgbClr val="0F172A"/>
                </a:solidFill>
              </a:defRPr>
            </a:pPr>
            <a:r>
              <a:t>Why Now</a:t>
            </a:r>
          </a:p>
          <a:p>
            <a:pPr>
              <a:spcBef>
                <a:spcPts val="800"/>
              </a:spcBef>
              <a:defRPr sz="1100">
                <a:solidFill>
                  <a:srgbClr val="475569"/>
                </a:solidFill>
              </a:defRPr>
            </a:pPr>
            <a:r>
              <a:t>Recent advancements in 1B Small Language Models (Llama 3.2 1B) make real-time edge AI viable.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920240"/>
            <a:ext cx="2468880" cy="28346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37160" rIns="137160" bIns="137160" wrap="square"/>
          <a:lstStyle/>
          <a:p>
            <a:pPr algn="ctr">
              <a:defRPr sz="1500" b="1">
                <a:solidFill>
                  <a:srgbClr val="0F172A"/>
                </a:solidFill>
              </a:defRPr>
            </a:pPr>
            <a:r>
              <a:t>Why Edge AI</a:t>
            </a:r>
          </a:p>
          <a:p>
            <a:pPr>
              <a:spcBef>
                <a:spcPts val="800"/>
              </a:spcBef>
              <a:defRPr sz="1100">
                <a:solidFill>
                  <a:srgbClr val="475569"/>
                </a:solidFill>
              </a:defRPr>
            </a:pPr>
            <a:r>
              <a:t>Zero internet requirement, 100% data privacy for lecture notes, and sub-2s latency.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61120" y="1920240"/>
            <a:ext cx="2468880" cy="28346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37160" rIns="137160" bIns="137160" wrap="square"/>
          <a:lstStyle/>
          <a:p>
            <a:pPr algn="ctr">
              <a:defRPr sz="1500" b="1">
                <a:solidFill>
                  <a:srgbClr val="0F172A"/>
                </a:solidFill>
              </a:defRPr>
            </a:pPr>
            <a:r>
              <a:t>Who Benefits</a:t>
            </a:r>
          </a:p>
          <a:p>
            <a:pPr>
              <a:spcBef>
                <a:spcPts val="800"/>
              </a:spcBef>
              <a:defRPr sz="1100">
                <a:solidFill>
                  <a:srgbClr val="475569"/>
                </a:solidFill>
              </a:defRPr>
            </a:pPr>
            <a:r>
              <a:t>Students preparing for exams, remote academic faculties, and air-gapped study labs.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937760"/>
            <a:ext cx="10728655" cy="1005840"/>
          </a:xfrm>
          <a:prstGeom prst="roundRect">
            <a:avLst/>
          </a:prstGeom>
          <a:solidFill>
            <a:srgbClr val="F0FDF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37160" rIns="137160" bIns="137160" wrap="square"/>
          <a:lstStyle/>
          <a:p>
            <a:pPr algn="l">
              <a:defRPr sz="1300" b="1">
                <a:solidFill>
                  <a:srgbClr val="0D9488"/>
                </a:solidFill>
              </a:defRPr>
            </a:pPr>
            <a:r>
              <a:t>What to include</a:t>
            </a:r>
          </a:p>
          <a:p>
            <a:pPr>
              <a:spcBef>
                <a:spcPts val="200"/>
              </a:spcBef>
              <a:defRPr sz="1100">
                <a:solidFill>
                  <a:srgbClr val="0F172A"/>
                </a:solidFill>
              </a:defRPr>
            </a:pPr>
            <a:r>
              <a:t>Use one short point per box. Keep it tight and avoid dense paragraphs.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D9488"/>
                </a:solidFill>
              </a:defRPr>
            </a:pPr>
            <a:r>
              <a:t>EDGEMINDS Internship 2026 – Project Summary and Final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82296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Our Solution</a:t>
            </a:r>
          </a:p>
          <a:p>
            <a:pPr>
              <a:spcBef>
                <a:spcPts val="300"/>
              </a:spcBef>
              <a:defRPr sz="1200" i="1">
                <a:solidFill>
                  <a:srgbClr val="475569"/>
                </a:solidFill>
              </a:defRPr>
            </a:pPr>
            <a:r>
              <a:t>Summarize what you built and the main features.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00200"/>
            <a:ext cx="1645920" cy="3657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0" y="365760"/>
            <a:ext cx="2133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1">
                <a:solidFill>
                  <a:srgbClr val="0F172A"/>
                </a:solidFill>
              </a:defRPr>
            </a:pPr>
            <a:r>
              <a:t>🧠 AiProff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rIns="731520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EDGEMINDS Internship 2026 – Project Summary and Final Report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9144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28800"/>
            <a:ext cx="6766560" cy="10058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37160" rIns="137160" bIns="137160" wrap="square"/>
          <a:lstStyle/>
          <a:p>
            <a:pPr algn="ctr">
              <a:defRPr sz="1300" b="1">
                <a:solidFill>
                  <a:srgbClr val="0F172A"/>
                </a:solidFill>
              </a:defRPr>
            </a:pPr>
            <a:r>
              <a:t>Our solution in one line</a:t>
            </a:r>
          </a:p>
          <a:p>
            <a:pPr>
              <a:spcBef>
                <a:spcPts val="200"/>
              </a:spcBef>
              <a:defRPr sz="1050">
                <a:solidFill>
                  <a:srgbClr val="475569"/>
                </a:solidFill>
              </a:defRPr>
            </a:pPr>
            <a:r>
              <a:t>An end-to-end, 100% offline Edge-AI RAG platform transforming syllabus PDFs into validated conceptual MCQs and study notes.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926080"/>
            <a:ext cx="3246120" cy="17373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37160" rIns="137160" bIns="137160" wrap="square"/>
          <a:lstStyle/>
          <a:p>
            <a:pPr algn="ctr">
              <a:defRPr sz="1300" b="1">
                <a:solidFill>
                  <a:srgbClr val="0F172A"/>
                </a:solidFill>
              </a:defRPr>
            </a:pPr>
            <a:r>
              <a:t>What We Built</a:t>
            </a:r>
          </a:p>
          <a:p>
            <a:pPr>
              <a:spcBef>
                <a:spcPts val="400"/>
              </a:spcBef>
              <a:defRPr sz="1000">
                <a:solidFill>
                  <a:srgbClr val="475569"/>
                </a:solidFill>
              </a:defRPr>
            </a:pPr>
            <a:r>
              <a:t>A lightweight Streamlit app running locally via Ollama (llama3.2:1b &amp; nomic-embed-text) with automated regex OCR text repair.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2926080"/>
            <a:ext cx="3246120" cy="17373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37160" rIns="137160" bIns="137160" wrap="square"/>
          <a:lstStyle/>
          <a:p>
            <a:pPr algn="ctr">
              <a:defRPr sz="1300" b="1">
                <a:solidFill>
                  <a:srgbClr val="0F172A"/>
                </a:solidFill>
              </a:defRPr>
            </a:pPr>
            <a:r>
              <a:t>Key Features</a:t>
            </a:r>
          </a:p>
          <a:p>
            <a:pPr>
              <a:spcBef>
                <a:spcPts val="400"/>
              </a:spcBef>
              <a:defRPr sz="1000">
                <a:solidFill>
                  <a:srgbClr val="475569"/>
                </a:solidFill>
              </a:defRPr>
            </a:pPr>
            <a:r>
              <a:t>• Sequential Pagewise Notes</a:t>
            </a:r>
            <a:br/>
            <a:r>
              <a:t>• Direct Conceptual MCQs</a:t>
            </a:r>
            <a:br/>
            <a:r>
              <a:t>• Option Shuffling &amp; Citations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0" y="1828800"/>
            <a:ext cx="3779215" cy="2834640"/>
          </a:xfrm>
          <a:prstGeom prst="roundRect">
            <a:avLst/>
          </a:prstGeom>
          <a:solidFill>
            <a:srgbClr val="F0FDF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37160" rIns="137160" bIns="137160" wrap="square"/>
          <a:lstStyle/>
          <a:p>
            <a:pPr algn="l">
              <a:defRPr sz="1300" b="1">
                <a:solidFill>
                  <a:srgbClr val="0D9488"/>
                </a:solidFill>
              </a:defRPr>
            </a:pPr>
            <a:r>
              <a:t>What to include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Summarize the solution clearly and keep only the main features.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846320"/>
            <a:ext cx="10728655" cy="10972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37160" rIns="137160" bIns="137160" wrap="square"/>
          <a:lstStyle/>
          <a:p>
            <a:pPr algn="ctr">
              <a:defRPr sz="1300" b="1">
                <a:solidFill>
                  <a:srgbClr val="0F172A"/>
                </a:solidFill>
              </a:defRPr>
            </a:pPr>
            <a:r>
              <a:t>Input → Processing → Output</a:t>
            </a:r>
          </a:p>
          <a:p>
            <a:pPr>
              <a:spcBef>
                <a:spcPts val="400"/>
              </a:spcBef>
              <a:defRPr sz="1050">
                <a:solidFill>
                  <a:srgbClr val="475569"/>
                </a:solidFill>
              </a:defRPr>
            </a:pPr>
            <a:r>
              <a:t>Raw PDF Notes ➔ Regex OCR Repair &amp; Chunking ➔ Local Vector Extraction ➔ Ollama Inference &amp; Quality Gate ➔ Exam-Ready Quiz &amp; Notes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D9488"/>
                </a:solidFill>
              </a:defRPr>
            </a:pPr>
            <a:r>
              <a:t>EDGEMINDS Internship 2026 – Project Summary and Final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82296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System Architecture</a:t>
            </a:r>
          </a:p>
          <a:p>
            <a:pPr>
              <a:spcBef>
                <a:spcPts val="300"/>
              </a:spcBef>
              <a:defRPr sz="1200" i="1">
                <a:solidFill>
                  <a:srgbClr val="475569"/>
                </a:solidFill>
              </a:defRPr>
            </a:pPr>
            <a:r>
              <a:t>Show the main components and data flow.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00200"/>
            <a:ext cx="1645920" cy="3657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0" y="365760"/>
            <a:ext cx="2133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1">
                <a:solidFill>
                  <a:srgbClr val="0F172A"/>
                </a:solidFill>
              </a:defRPr>
            </a:pPr>
            <a:r>
              <a:t>🧠 AiProff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rIns="731520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EDGEMINDS Internship 2026 – Project Summary and Final Report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9144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920240"/>
            <a:ext cx="1554480" cy="1463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wrap="square"/>
          <a:lstStyle/>
          <a:p>
            <a:pPr algn="ctr">
              <a:defRPr sz="1200" b="1">
                <a:solidFill>
                  <a:srgbClr val="0F172A"/>
                </a:solidFill>
              </a:defRPr>
            </a:pPr>
            <a:r>
              <a:t>User / Input</a:t>
            </a:r>
          </a:p>
          <a:p>
            <a:pPr algn="ctr">
              <a:spcBef>
                <a:spcPts val="400"/>
              </a:spcBef>
              <a:defRPr sz="950">
                <a:solidFill>
                  <a:srgbClr val="475569"/>
                </a:solidFill>
              </a:defRPr>
            </a:pPr>
            <a:r>
              <a:t>Text, image, voice</a:t>
            </a:r>
            <a:br/>
            <a:r>
              <a:t>(Syllabus PDF)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423160" y="1920240"/>
            <a:ext cx="1554480" cy="1463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wrap="square"/>
          <a:lstStyle/>
          <a:p>
            <a:pPr algn="ctr">
              <a:defRPr sz="1200" b="1">
                <a:solidFill>
                  <a:srgbClr val="0F172A"/>
                </a:solidFill>
              </a:defRPr>
            </a:pPr>
            <a:r>
              <a:t>App / UI</a:t>
            </a:r>
          </a:p>
          <a:p>
            <a:pPr algn="ctr">
              <a:spcBef>
                <a:spcPts val="400"/>
              </a:spcBef>
              <a:defRPr sz="950">
                <a:solidFill>
                  <a:srgbClr val="475569"/>
                </a:solidFill>
              </a:defRPr>
            </a:pPr>
            <a:r>
              <a:t>Web app or UI</a:t>
            </a:r>
            <a:br/>
            <a:r>
              <a:t>(Streamlit Port 8506)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0" y="1920240"/>
            <a:ext cx="1554480" cy="1463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wrap="square"/>
          <a:lstStyle/>
          <a:p>
            <a:pPr algn="ctr">
              <a:defRPr sz="1200" b="1">
                <a:solidFill>
                  <a:srgbClr val="0F172A"/>
                </a:solidFill>
              </a:defRPr>
            </a:pPr>
            <a:r>
              <a:t>SLM / Agent Logic</a:t>
            </a:r>
          </a:p>
          <a:p>
            <a:pPr algn="ctr">
              <a:spcBef>
                <a:spcPts val="400"/>
              </a:spcBef>
              <a:defRPr sz="950">
                <a:solidFill>
                  <a:srgbClr val="475569"/>
                </a:solidFill>
              </a:defRPr>
            </a:pPr>
            <a:r>
              <a:t>Inference, planning</a:t>
            </a:r>
            <a:br/>
            <a:r>
              <a:t>(Ollama llama3.2:1b)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06440" y="1920240"/>
            <a:ext cx="1554480" cy="1463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wrap="square"/>
          <a:lstStyle/>
          <a:p>
            <a:pPr algn="ctr">
              <a:defRPr sz="1200" b="1">
                <a:solidFill>
                  <a:srgbClr val="0F172A"/>
                </a:solidFill>
              </a:defRPr>
            </a:pPr>
            <a:r>
              <a:t>Tools / RAG / Database</a:t>
            </a:r>
          </a:p>
          <a:p>
            <a:pPr algn="ctr">
              <a:spcBef>
                <a:spcPts val="400"/>
              </a:spcBef>
              <a:defRPr sz="950">
                <a:solidFill>
                  <a:srgbClr val="475569"/>
                </a:solidFill>
              </a:defRPr>
            </a:pPr>
            <a:r>
              <a:t>Vector DB, APIs</a:t>
            </a:r>
            <a:br/>
            <a:r>
              <a:t>(nomic-embed-text)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2468880"/>
            <a:ext cx="137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0D9488"/>
                </a:solidFill>
              </a:defRPr>
            </a:pPr>
            <a:r>
              <a:t>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40" y="2468880"/>
            <a:ext cx="137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0D9488"/>
                </a:solidFill>
              </a:defRPr>
            </a:pPr>
            <a:r>
              <a:t>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468880"/>
            <a:ext cx="137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0D9488"/>
                </a:solidFill>
              </a:defRPr>
            </a:pPr>
            <a:r>
              <a:t>➔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377440" y="3749039"/>
            <a:ext cx="3246120" cy="10058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wrap="square"/>
          <a:lstStyle/>
          <a:p>
            <a:pPr algn="ctr">
              <a:defRPr sz="1300" b="1">
                <a:solidFill>
                  <a:srgbClr val="0F172A"/>
                </a:solidFill>
              </a:defRPr>
            </a:pPr>
            <a:r>
              <a:t>Jetson Deployment</a:t>
            </a:r>
          </a:p>
          <a:p>
            <a:pPr algn="ctr">
              <a:spcBef>
                <a:spcPts val="200"/>
              </a:spcBef>
              <a:defRPr sz="1000">
                <a:solidFill>
                  <a:srgbClr val="475569"/>
                </a:solidFill>
              </a:defRPr>
            </a:pPr>
            <a:r>
              <a:t>Runs on Jetson board (CUDA L4T)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0" y="338328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0D9488"/>
                </a:solidFill>
              </a:defRPr>
            </a:pPr>
            <a:r>
              <a:t>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475488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0D9488"/>
                </a:solidFill>
              </a:defRPr>
            </a:pPr>
            <a:r>
              <a:t>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377440" y="5120640"/>
            <a:ext cx="3246120" cy="10058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wrap="square"/>
          <a:lstStyle/>
          <a:p>
            <a:pPr algn="ctr">
              <a:defRPr sz="1300" b="1">
                <a:solidFill>
                  <a:srgbClr val="0F172A"/>
                </a:solidFill>
              </a:defRPr>
            </a:pPr>
            <a:r>
              <a:t>Output</a:t>
            </a:r>
          </a:p>
          <a:p>
            <a:pPr algn="ctr">
              <a:spcBef>
                <a:spcPts val="200"/>
              </a:spcBef>
              <a:defRPr sz="1000">
                <a:solidFill>
                  <a:srgbClr val="475569"/>
                </a:solidFill>
              </a:defRPr>
            </a:pPr>
            <a:r>
              <a:t>Validated MCQs &amp; Pagewise Notes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80960" y="1920240"/>
            <a:ext cx="3779215" cy="4206240"/>
          </a:xfrm>
          <a:prstGeom prst="roundRect">
            <a:avLst/>
          </a:prstGeom>
          <a:solidFill>
            <a:srgbClr val="F0FDF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37160" rIns="137160" bIns="137160" wrap="square"/>
          <a:lstStyle/>
          <a:p>
            <a:pPr algn="l">
              <a:defRPr sz="1300" b="1">
                <a:solidFill>
                  <a:srgbClr val="0D9488"/>
                </a:solidFill>
              </a:defRPr>
            </a:pPr>
            <a:r>
              <a:t>What to include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Show only the main components, basic data flow, and where Jetson fits.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D9488"/>
                </a:solidFill>
              </a:defRPr>
            </a:pPr>
            <a:r>
              <a:t>EDGEMINDS Internship 2026 – Project Summary and Final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82296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Model, Tools &amp; Jetson Deployment</a:t>
            </a:r>
          </a:p>
          <a:p>
            <a:pPr>
              <a:spcBef>
                <a:spcPts val="300"/>
              </a:spcBef>
              <a:defRPr sz="1200" i="1">
                <a:solidFill>
                  <a:srgbClr val="475569"/>
                </a:solidFill>
              </a:defRPr>
            </a:pPr>
            <a:r>
              <a:t>Mention the model, stack, and deployment details.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00200"/>
            <a:ext cx="1645920" cy="3657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0" y="365760"/>
            <a:ext cx="2133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1">
                <a:solidFill>
                  <a:srgbClr val="0F172A"/>
                </a:solidFill>
              </a:defRPr>
            </a:pPr>
            <a:r>
              <a:t>🧠 AiProff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rIns="731520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EDGEMINDS Internship 2026 – Project Summary and Final Report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9144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</a:defRPr>
            </a:pPr>
            <a: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920240"/>
            <a:ext cx="3383280" cy="28346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82880" rIns="182880" bIns="182880" wrap="square"/>
          <a:lstStyle/>
          <a:p>
            <a:pPr algn="ctr">
              <a:defRPr sz="1500" b="1">
                <a:solidFill>
                  <a:srgbClr val="0F172A"/>
                </a:solidFill>
              </a:defRPr>
            </a:pPr>
            <a:r>
              <a:t>1. Model Used</a:t>
            </a:r>
          </a:p>
          <a:p>
            <a:pPr>
              <a:spcBef>
                <a:spcPts val="800"/>
              </a:spcBef>
              <a:defRPr sz="1100">
                <a:solidFill>
                  <a:srgbClr val="475569"/>
                </a:solidFill>
              </a:defRPr>
            </a:pPr>
            <a:r>
              <a:t>Model name: Meta Llama 3.2 (1B)</a:t>
            </a:r>
            <a:br/>
            <a:r>
              <a:t>Model type: Small Language Model (SLM)</a:t>
            </a:r>
            <a:br/>
            <a:r>
              <a:t>Framework: LangChain &amp; Ollama</a:t>
            </a:r>
            <a:br/>
            <a:r>
              <a:t>Quantization: Q4_K_M 4-bit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920240"/>
            <a:ext cx="3383280" cy="28346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82880" rIns="182880" bIns="182880" wrap="square"/>
          <a:lstStyle/>
          <a:p>
            <a:pPr algn="ctr">
              <a:defRPr sz="1500" b="1">
                <a:solidFill>
                  <a:srgbClr val="0F172A"/>
                </a:solidFill>
              </a:defRPr>
            </a:pPr>
            <a:r>
              <a:t>2. Tools &amp; Stack</a:t>
            </a:r>
          </a:p>
          <a:p>
            <a:pPr>
              <a:spcBef>
                <a:spcPts val="800"/>
              </a:spcBef>
              <a:defRPr sz="1100">
                <a:solidFill>
                  <a:srgbClr val="475569"/>
                </a:solidFill>
              </a:defRPr>
            </a:pPr>
            <a:r>
              <a:t>Ollama REST API Engine</a:t>
            </a:r>
            <a:br/>
            <a:r>
              <a:t>Libraries: PyMuPDF, FAISS, PyTesseract</a:t>
            </a:r>
            <a:br/>
            <a:r>
              <a:t>UI / Interface: Streamlit Port 8506</a:t>
            </a:r>
            <a:br/>
            <a:r>
              <a:t>Database / Storage: Local FAISS Index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920240"/>
            <a:ext cx="3383280" cy="28346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82880" rIns="182880" bIns="182880" wrap="square"/>
          <a:lstStyle/>
          <a:p>
            <a:pPr algn="ctr">
              <a:defRPr sz="1500" b="1">
                <a:solidFill>
                  <a:srgbClr val="0F172A"/>
                </a:solidFill>
              </a:defRPr>
            </a:pPr>
            <a:r>
              <a:t>3. Deployment on Jetson</a:t>
            </a:r>
          </a:p>
          <a:p>
            <a:pPr>
              <a:spcBef>
                <a:spcPts val="800"/>
              </a:spcBef>
              <a:defRPr sz="1100">
                <a:solidFill>
                  <a:srgbClr val="475569"/>
                </a:solidFill>
              </a:defRPr>
            </a:pPr>
            <a:r>
              <a:t>Jetson board: Orin / Nano</a:t>
            </a:r>
            <a:br/>
            <a:r>
              <a:t>JetPack / L4T: CUDA Accelerated</a:t>
            </a:r>
            <a:br/>
            <a:r>
              <a:t>Deployment method: Direct REST API</a:t>
            </a:r>
            <a:br/>
            <a:r>
              <a:t>Optimization: 1-Pass Per-Chunk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937760"/>
            <a:ext cx="10728655" cy="1005840"/>
          </a:xfrm>
          <a:prstGeom prst="roundRect">
            <a:avLst/>
          </a:prstGeom>
          <a:solidFill>
            <a:srgbClr val="F0FDF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37160" rIns="137160" bIns="137160" wrap="square"/>
          <a:lstStyle/>
          <a:p>
            <a:pPr algn="l">
              <a:defRPr sz="1300" b="1">
                <a:solidFill>
                  <a:srgbClr val="0D9488"/>
                </a:solidFill>
              </a:defRPr>
            </a:pPr>
            <a:r>
              <a:t>What to include</a:t>
            </a:r>
          </a:p>
          <a:p>
            <a:pPr>
              <a:spcBef>
                <a:spcPts val="200"/>
              </a:spcBef>
              <a:defRPr sz="1100">
                <a:solidFill>
                  <a:srgbClr val="0F172A"/>
                </a:solidFill>
              </a:defRPr>
            </a:pPr>
            <a:r>
              <a:t>Keep this factual. Mention only the key technical details that matter for understanding deployment.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D9488"/>
                </a:solidFill>
              </a:defRPr>
            </a:pPr>
            <a:r>
              <a:t>EDGEMINDS Internship 2026 – Project Summary and Final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82296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Live Demo Flow</a:t>
            </a:r>
          </a:p>
          <a:p>
            <a:pPr>
              <a:spcBef>
                <a:spcPts val="300"/>
              </a:spcBef>
              <a:defRPr sz="1200" i="1">
                <a:solidFill>
                  <a:srgbClr val="475569"/>
                </a:solidFill>
              </a:defRPr>
            </a:pPr>
            <a:r>
              <a:t>Outline the exact order of the live demo.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00200"/>
            <a:ext cx="1645920" cy="3657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0" y="365760"/>
            <a:ext cx="2133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1">
                <a:solidFill>
                  <a:srgbClr val="0F172A"/>
                </a:solidFill>
              </a:defRPr>
            </a:pPr>
            <a:r>
              <a:t>🧠 AiProff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rIns="731520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EDGEMINDS Internship 2026 – Project Summary and Final Report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9144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</a:defRPr>
            </a:pPr>
            <a:r>
              <a:t>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920240"/>
            <a:ext cx="1554480" cy="28346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37160" rIns="137160" bIns="137160" wrap="square"/>
          <a:lstStyle/>
          <a:p>
            <a:pPr algn="ctr">
              <a:defRPr sz="1500" b="1">
                <a:solidFill>
                  <a:srgbClr val="0F172A"/>
                </a:solidFill>
              </a:defRPr>
            </a:pPr>
            <a:r>
              <a:t>Step 1</a:t>
            </a:r>
          </a:p>
          <a:p>
            <a:pPr>
              <a:spcBef>
                <a:spcPts val="600"/>
              </a:spcBef>
              <a:defRPr sz="1050">
                <a:solidFill>
                  <a:srgbClr val="475569"/>
                </a:solidFill>
              </a:defRPr>
            </a:pPr>
            <a:r>
              <a:t>Upload course PDF into EduMind.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60320" y="1920240"/>
            <a:ext cx="1554480" cy="28346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37160" rIns="137160" bIns="137160" wrap="square"/>
          <a:lstStyle/>
          <a:p>
            <a:pPr algn="ctr">
              <a:defRPr sz="1500" b="1">
                <a:solidFill>
                  <a:srgbClr val="0F172A"/>
                </a:solidFill>
              </a:defRPr>
            </a:pPr>
            <a:r>
              <a:t>Step 2</a:t>
            </a:r>
          </a:p>
          <a:p>
            <a:pPr>
              <a:spcBef>
                <a:spcPts val="600"/>
              </a:spcBef>
              <a:defRPr sz="1050">
                <a:solidFill>
                  <a:srgbClr val="475569"/>
                </a:solidFill>
              </a:defRPr>
            </a:pPr>
            <a:r>
              <a:t>Select target page range (Pages 1–10).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920240"/>
            <a:ext cx="1554480" cy="28346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37160" rIns="137160" bIns="137160" wrap="square"/>
          <a:lstStyle/>
          <a:p>
            <a:pPr algn="ctr">
              <a:defRPr sz="1500" b="1">
                <a:solidFill>
                  <a:srgbClr val="0F172A"/>
                </a:solidFill>
              </a:defRPr>
            </a:pPr>
            <a:r>
              <a:t>Step 3</a:t>
            </a:r>
          </a:p>
          <a:p>
            <a:pPr>
              <a:spcBef>
                <a:spcPts val="600"/>
              </a:spcBef>
              <a:defRPr sz="1050">
                <a:solidFill>
                  <a:srgbClr val="475569"/>
                </a:solidFill>
              </a:defRPr>
            </a:pPr>
            <a:r>
              <a:t>Click 'Pagewise Notes' for instant study guide.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1554480" cy="28346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37160" rIns="137160" bIns="137160" wrap="square"/>
          <a:lstStyle/>
          <a:p>
            <a:pPr algn="ctr">
              <a:defRPr sz="1500" b="1">
                <a:solidFill>
                  <a:srgbClr val="0F172A"/>
                </a:solidFill>
              </a:defRPr>
            </a:pPr>
            <a:r>
              <a:t>Step 4</a:t>
            </a:r>
          </a:p>
          <a:p>
            <a:pPr>
              <a:spcBef>
                <a:spcPts val="600"/>
              </a:spcBef>
              <a:defRPr sz="1050">
                <a:solidFill>
                  <a:srgbClr val="475569"/>
                </a:solidFill>
              </a:defRPr>
            </a:pPr>
            <a:r>
              <a:t>Click 'Practice Quiz' for conceptual MCQs.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920240"/>
            <a:ext cx="1554480" cy="28346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37160" rIns="137160" bIns="137160" wrap="square"/>
          <a:lstStyle/>
          <a:p>
            <a:pPr algn="ctr">
              <a:defRPr sz="1500" b="1">
                <a:solidFill>
                  <a:srgbClr val="0F172A"/>
                </a:solidFill>
              </a:defRPr>
            </a:pPr>
            <a:r>
              <a:t>Step 5</a:t>
            </a:r>
          </a:p>
          <a:p>
            <a:pPr>
              <a:spcBef>
                <a:spcPts val="600"/>
              </a:spcBef>
              <a:defRPr sz="1050">
                <a:solidFill>
                  <a:srgbClr val="475569"/>
                </a:solidFill>
              </a:defRPr>
            </a:pPr>
            <a:r>
              <a:t>Submit answers for grading &amp; page citations.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875520" y="1920240"/>
            <a:ext cx="1554480" cy="28346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37160" rIns="137160" bIns="137160" wrap="square"/>
          <a:lstStyle/>
          <a:p>
            <a:pPr algn="ctr">
              <a:defRPr sz="1500" b="1">
                <a:solidFill>
                  <a:srgbClr val="0F172A"/>
                </a:solidFill>
              </a:defRPr>
            </a:pPr>
            <a:r>
              <a:t>Step 6</a:t>
            </a:r>
          </a:p>
          <a:p>
            <a:pPr>
              <a:spcBef>
                <a:spcPts val="600"/>
              </a:spcBef>
              <a:defRPr sz="1050">
                <a:solidFill>
                  <a:srgbClr val="475569"/>
                </a:solidFill>
              </a:defRPr>
            </a:pPr>
            <a:r>
              <a:t>Disconnect internet to prove 100% offline edge execution.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937760"/>
            <a:ext cx="7772400" cy="1005840"/>
          </a:xfrm>
          <a:prstGeom prst="roundRect">
            <a:avLst/>
          </a:prstGeom>
          <a:solidFill>
            <a:srgbClr val="F0FDF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37160" rIns="137160" bIns="137160" wrap="square"/>
          <a:lstStyle/>
          <a:p>
            <a:pPr algn="l">
              <a:defRPr sz="1300" b="1">
                <a:solidFill>
                  <a:srgbClr val="0D9488"/>
                </a:solidFill>
              </a:defRPr>
            </a:pPr>
            <a:r>
              <a:t>What to include</a:t>
            </a:r>
          </a:p>
          <a:p>
            <a:pPr>
              <a:spcBef>
                <a:spcPts val="200"/>
              </a:spcBef>
              <a:defRPr sz="1050">
                <a:solidFill>
                  <a:srgbClr val="0F172A"/>
                </a:solidFill>
              </a:defRPr>
            </a:pPr>
            <a:r>
              <a:t>Show the exact sequence of the live demo, the expected output, and your backup plan if something fails.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16975" y="4937760"/>
            <a:ext cx="2743200" cy="1005840"/>
          </a:xfrm>
          <a:prstGeom prst="roundRect">
            <a:avLst/>
          </a:prstGeom>
          <a:solidFill>
            <a:srgbClr val="F0FDF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37160" rIns="137160" bIns="137160" wrap="square"/>
          <a:lstStyle/>
          <a:p>
            <a:pPr algn="l">
              <a:defRPr sz="1300" b="1">
                <a:solidFill>
                  <a:srgbClr val="0D9488"/>
                </a:solidFill>
              </a:defRPr>
            </a:pPr>
            <a:r>
              <a:t>Reminder</a:t>
            </a:r>
          </a:p>
          <a:p>
            <a:pPr>
              <a:spcBef>
                <a:spcPts val="200"/>
              </a:spcBef>
              <a:defRPr sz="1100">
                <a:solidFill>
                  <a:srgbClr val="0F172A"/>
                </a:solidFill>
              </a:defRPr>
            </a:pPr>
            <a:r>
              <a:t>Demo must run on Jetson.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D9488"/>
                </a:solidFill>
              </a:defRPr>
            </a:pPr>
            <a:r>
              <a:t>EDGEMINDS Internship 2026 – Project Summary and Final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82296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Key Metrics &amp; Results</a:t>
            </a:r>
          </a:p>
          <a:p>
            <a:pPr>
              <a:spcBef>
                <a:spcPts val="300"/>
              </a:spcBef>
              <a:defRPr sz="1200" i="1">
                <a:solidFill>
                  <a:srgbClr val="475569"/>
                </a:solidFill>
              </a:defRPr>
            </a:pPr>
            <a:r>
              <a:t>Present the outcomes and proof points.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00200"/>
            <a:ext cx="1645920" cy="3657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0" y="365760"/>
            <a:ext cx="2133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1">
                <a:solidFill>
                  <a:srgbClr val="0F172A"/>
                </a:solidFill>
              </a:defRPr>
            </a:pPr>
            <a:r>
              <a:t>🧠 AiProff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rIns="731520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EDGEMINDS Internship 2026 – Project Summary and Final Report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9144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</a:defRPr>
            </a:pPr>
            <a:r>
              <a:t>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920240"/>
            <a:ext cx="2011680" cy="12801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37160" rIns="137160" bIns="137160" wrap="square"/>
          <a:lstStyle/>
          <a:p>
            <a:pPr algn="ctr">
              <a:defRPr sz="1200" b="1">
                <a:solidFill>
                  <a:srgbClr val="0F172A"/>
                </a:solidFill>
              </a:defRPr>
            </a:pPr>
            <a:r>
              <a:t>Inference Latency</a:t>
            </a:r>
          </a:p>
          <a:p>
            <a:pPr>
              <a:spcBef>
                <a:spcPts val="400"/>
              </a:spcBef>
              <a:defRPr sz="1300" b="1">
                <a:solidFill>
                  <a:srgbClr val="0D9488"/>
                </a:solidFill>
              </a:defRPr>
            </a:pPr>
            <a:r>
              <a:t>1.2s - 2.5s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17520" y="1920240"/>
            <a:ext cx="2011680" cy="12801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37160" rIns="137160" bIns="137160" wrap="square"/>
          <a:lstStyle/>
          <a:p>
            <a:pPr algn="ctr">
              <a:defRPr sz="1200" b="1">
                <a:solidFill>
                  <a:srgbClr val="0F172A"/>
                </a:solidFill>
              </a:defRPr>
            </a:pPr>
            <a:r>
              <a:t>Accuracy / Quality</a:t>
            </a:r>
          </a:p>
          <a:p>
            <a:pPr>
              <a:spcBef>
                <a:spcPts val="400"/>
              </a:spcBef>
              <a:defRPr sz="1300" b="1">
                <a:solidFill>
                  <a:srgbClr val="0D9488"/>
                </a:solidFill>
              </a:defRPr>
            </a:pPr>
            <a:r>
              <a:t>92% Pass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03520" y="1920240"/>
            <a:ext cx="2011680" cy="12801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37160" rIns="137160" bIns="137160" wrap="square"/>
          <a:lstStyle/>
          <a:p>
            <a:pPr algn="ctr">
              <a:defRPr sz="1200" b="1">
                <a:solidFill>
                  <a:srgbClr val="0F172A"/>
                </a:solidFill>
              </a:defRPr>
            </a:pPr>
            <a:r>
              <a:t>Memory Usage</a:t>
            </a:r>
          </a:p>
          <a:p>
            <a:pPr>
              <a:spcBef>
                <a:spcPts val="400"/>
              </a:spcBef>
              <a:defRPr sz="1300" b="1">
                <a:solidFill>
                  <a:srgbClr val="0D9488"/>
                </a:solidFill>
              </a:defRPr>
            </a:pPr>
            <a:r>
              <a:t>~1.8 GB VRAM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383280"/>
            <a:ext cx="2011680" cy="12801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37160" rIns="137160" bIns="137160" wrap="square"/>
          <a:lstStyle/>
          <a:p>
            <a:pPr algn="ctr">
              <a:defRPr sz="1200" b="1">
                <a:solidFill>
                  <a:srgbClr val="0F172A"/>
                </a:solidFill>
              </a:defRPr>
            </a:pPr>
            <a:r>
              <a:t>Offline Performance</a:t>
            </a:r>
          </a:p>
          <a:p>
            <a:pPr>
              <a:spcBef>
                <a:spcPts val="400"/>
              </a:spcBef>
              <a:defRPr sz="1300" b="1">
                <a:solidFill>
                  <a:srgbClr val="0D9488"/>
                </a:solidFill>
              </a:defRPr>
            </a:pPr>
            <a:r>
              <a:t>100% Offline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017520" y="3383280"/>
            <a:ext cx="2011680" cy="12801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37160" rIns="137160" bIns="137160" wrap="square"/>
          <a:lstStyle/>
          <a:p>
            <a:pPr algn="ctr">
              <a:defRPr sz="1200" b="1">
                <a:solidFill>
                  <a:srgbClr val="0F172A"/>
                </a:solidFill>
              </a:defRPr>
            </a:pPr>
            <a:r>
              <a:t>Test Cases Passed</a:t>
            </a:r>
          </a:p>
          <a:p>
            <a:pPr>
              <a:spcBef>
                <a:spcPts val="400"/>
              </a:spcBef>
              <a:defRPr sz="1300" b="1">
                <a:solidFill>
                  <a:srgbClr val="0D9488"/>
                </a:solidFill>
              </a:defRPr>
            </a:pPr>
            <a:r>
              <a:t>48 / 50 PDFs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03520" y="3383280"/>
            <a:ext cx="2011680" cy="12801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37160" rIns="137160" bIns="137160" wrap="square"/>
          <a:lstStyle/>
          <a:p>
            <a:pPr algn="ctr">
              <a:defRPr sz="1200" b="1">
                <a:solidFill>
                  <a:srgbClr val="0F172A"/>
                </a:solidFill>
              </a:defRPr>
            </a:pPr>
            <a:r>
              <a:t>Hindi / Multilingual</a:t>
            </a:r>
          </a:p>
          <a:p>
            <a:pPr>
              <a:spcBef>
                <a:spcPts val="400"/>
              </a:spcBef>
              <a:defRPr sz="1300" b="1">
                <a:solidFill>
                  <a:srgbClr val="0D9488"/>
                </a:solidFill>
              </a:defRPr>
            </a:pPr>
            <a:r>
              <a:t>Extensible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0" y="1920240"/>
            <a:ext cx="3870655" cy="2743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37160" rIns="137160" bIns="137160" wrap="square"/>
          <a:lstStyle/>
          <a:p>
            <a:pPr algn="ctr">
              <a:defRPr sz="1400" b="1">
                <a:solidFill>
                  <a:srgbClr val="0F172A"/>
                </a:solidFill>
              </a:defRPr>
            </a:pPr>
            <a:r>
              <a:t>Before vs After comparison</a:t>
            </a:r>
          </a:p>
          <a:p>
            <a:pPr>
              <a:spcBef>
                <a:spcPts val="600"/>
              </a:spcBef>
              <a:defRPr sz="1050">
                <a:solidFill>
                  <a:srgbClr val="475569"/>
                </a:solidFill>
              </a:defRPr>
            </a:pPr>
            <a:r>
              <a:t>• Before: High cloud API costs, broken font encodings, trivial fill-in-blank MCQs.</a:t>
            </a:r>
            <a:br/>
            <a:br/>
            <a:r>
              <a:t>• After: 100% free local Jetson execution, regex text repair, 92% conceptual MCQ accuracy.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20" y="4846320"/>
            <a:ext cx="3870655" cy="1097280"/>
          </a:xfrm>
          <a:prstGeom prst="roundRect">
            <a:avLst/>
          </a:prstGeom>
          <a:solidFill>
            <a:srgbClr val="F0FDF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37160" rIns="137160" bIns="137160" wrap="square"/>
          <a:lstStyle/>
          <a:p>
            <a:pPr algn="l">
              <a:defRPr sz="1300" b="1">
                <a:solidFill>
                  <a:srgbClr val="0D9488"/>
                </a:solidFill>
              </a:defRPr>
            </a:pPr>
            <a:r>
              <a:t>What to include</a:t>
            </a:r>
          </a:p>
          <a:p>
            <a:pPr>
              <a:spcBef>
                <a:spcPts val="200"/>
              </a:spcBef>
              <a:defRPr sz="1100">
                <a:solidFill>
                  <a:srgbClr val="0F172A"/>
                </a:solidFill>
              </a:defRPr>
            </a:pPr>
            <a:r>
              <a:t>Use actual numbers. Show only the proof points that matter most.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D9488"/>
                </a:solidFill>
              </a:defRPr>
            </a:pPr>
            <a:r>
              <a:t>EDGEMINDS Internship 2026 – Project Summary and Final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82296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What Makes This Project Interesting, Conclusion &amp; Next Steps</a:t>
            </a:r>
          </a:p>
          <a:p>
            <a:pPr>
              <a:spcBef>
                <a:spcPts val="300"/>
              </a:spcBef>
              <a:defRPr sz="1200" i="1">
                <a:solidFill>
                  <a:srgbClr val="475569"/>
                </a:solidFill>
              </a:defRPr>
            </a:pPr>
            <a:r>
              <a:t>Wrap up with novelty, learning, and next steps.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00200"/>
            <a:ext cx="1645920" cy="3657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0" y="365760"/>
            <a:ext cx="2133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1">
                <a:solidFill>
                  <a:srgbClr val="0F172A"/>
                </a:solidFill>
              </a:defRPr>
            </a:pPr>
            <a:r>
              <a:t>🧠 AiProff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rIns="731520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EDGEMINDS Internship 2026 – Project Summary and Final Report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9144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</a:defRPr>
            </a:pPr>
            <a: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920240"/>
            <a:ext cx="3383280" cy="28346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82880" rIns="182880" bIns="182880" wrap="square"/>
          <a:lstStyle/>
          <a:p>
            <a:pPr algn="ctr">
              <a:defRPr sz="1400" b="1">
                <a:solidFill>
                  <a:srgbClr val="0F172A"/>
                </a:solidFill>
              </a:defRPr>
            </a:pPr>
            <a:r>
              <a:t>What Makes It Interesting</a:t>
            </a:r>
          </a:p>
          <a:p>
            <a:pPr>
              <a:spcBef>
                <a:spcPts val="800"/>
              </a:spcBef>
              <a:defRPr sz="1100">
                <a:solidFill>
                  <a:srgbClr val="475569"/>
                </a:solidFill>
              </a:defRPr>
            </a:pPr>
            <a:r>
              <a:t>Solves the 1B SLM instruction-overload problem by delegating option shuffling and validation to Python while running regex text repair prior to vector inference.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920240"/>
            <a:ext cx="3383280" cy="28346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82880" rIns="182880" bIns="182880" wrap="square"/>
          <a:lstStyle/>
          <a:p>
            <a:pPr algn="ctr">
              <a:defRPr sz="1400" b="1">
                <a:solidFill>
                  <a:srgbClr val="0F172A"/>
                </a:solidFill>
              </a:defRPr>
            </a:pPr>
            <a:r>
              <a:t>Conclusion / Key Learning</a:t>
            </a:r>
          </a:p>
          <a:p>
            <a:pPr>
              <a:spcBef>
                <a:spcPts val="800"/>
              </a:spcBef>
              <a:defRPr sz="1100">
                <a:solidFill>
                  <a:srgbClr val="475569"/>
                </a:solidFill>
              </a:defRPr>
            </a:pPr>
            <a:r>
              <a:t>Demonstrates that lightweight 1B models deployed on edge hardware can outperform cloud APIs in reliability and domain-specific assessment tasks when paired with strict guardrails.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920240"/>
            <a:ext cx="3383280" cy="28346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82880" rIns="182880" bIns="182880" wrap="square"/>
          <a:lstStyle/>
          <a:p>
            <a:pPr algn="ctr">
              <a:defRPr sz="1400" b="1">
                <a:solidFill>
                  <a:srgbClr val="0F172A"/>
                </a:solidFill>
              </a:defRPr>
            </a:pPr>
            <a:r>
              <a:t>Next Steps</a:t>
            </a:r>
          </a:p>
          <a:p>
            <a:pPr>
              <a:spcBef>
                <a:spcPts val="800"/>
              </a:spcBef>
              <a:defRPr sz="1100">
                <a:solidFill>
                  <a:srgbClr val="475569"/>
                </a:solidFill>
              </a:defRPr>
            </a:pPr>
            <a:r>
              <a:t>1. Voice-guided quiz audio narration.</a:t>
            </a:r>
            <a:br/>
            <a:r>
              <a:t>2. Multimodal lecture diagram parsing.</a:t>
            </a:r>
            <a:br/>
            <a:r>
              <a:t>3. Quantized 3B parameter model support on Jetson Orin.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937760"/>
            <a:ext cx="6858000" cy="1005840"/>
          </a:xfrm>
          <a:prstGeom prst="roundRect">
            <a:avLst/>
          </a:prstGeom>
          <a:solidFill>
            <a:srgbClr val="F0FDF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37160" rIns="137160" bIns="137160" wrap="square"/>
          <a:lstStyle/>
          <a:p>
            <a:pPr algn="l">
              <a:defRPr sz="1300" b="1">
                <a:solidFill>
                  <a:srgbClr val="0D9488"/>
                </a:solidFill>
              </a:defRPr>
            </a:pPr>
            <a:r>
              <a:t>Thank You / Q&amp;A</a:t>
            </a:r>
          </a:p>
          <a:p>
            <a:pPr>
              <a:spcBef>
                <a:spcPts val="200"/>
              </a:spcBef>
              <a:defRPr sz="1100">
                <a:solidFill>
                  <a:srgbClr val="0F172A"/>
                </a:solidFill>
              </a:defRPr>
            </a:pPr>
            <a:r>
              <a:t>Thank you for your time. Happy to take questions and live feedback.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02575" y="4937760"/>
            <a:ext cx="3657600" cy="1005840"/>
          </a:xfrm>
          <a:prstGeom prst="roundRect">
            <a:avLst/>
          </a:prstGeom>
          <a:solidFill>
            <a:srgbClr val="F0FDF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37160" rIns="137160" bIns="137160" wrap="square"/>
          <a:lstStyle/>
          <a:p>
            <a:pPr algn="l">
              <a:defRPr sz="1300" b="1">
                <a:solidFill>
                  <a:srgbClr val="0D9488"/>
                </a:solidFill>
              </a:defRPr>
            </a:pPr>
            <a:r>
              <a:t>What to include</a:t>
            </a:r>
          </a:p>
          <a:p>
            <a:pPr>
              <a:spcBef>
                <a:spcPts val="200"/>
              </a:spcBef>
              <a:defRPr sz="1050">
                <a:solidFill>
                  <a:srgbClr val="0F172A"/>
                </a:solidFill>
              </a:defRPr>
            </a:pPr>
            <a:r>
              <a:t>End with clarity, not clutter. Keep the last slide calm and confident.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D9488"/>
                </a:solidFill>
              </a:defRPr>
            </a:pPr>
            <a:r>
              <a:t>EDGEMINDS Internship 2026 – Project Summary and Final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82296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Project Evaluation Rubric</a:t>
            </a:r>
          </a:p>
          <a:p>
            <a:pPr>
              <a:spcBef>
                <a:spcPts val="300"/>
              </a:spcBef>
              <a:defRPr sz="1200" i="1">
                <a:solidFill>
                  <a:srgbClr val="475569"/>
                </a:solidFill>
              </a:defRPr>
            </a:pPr>
            <a:r>
              <a:t>Each criterion will be scored from 1 to 10. Weighted total generates a score out of 100.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00200"/>
            <a:ext cx="1645920" cy="3657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0" y="365760"/>
            <a:ext cx="2133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1">
                <a:solidFill>
                  <a:srgbClr val="0F172A"/>
                </a:solidFill>
              </a:defRPr>
            </a:pPr>
            <a:r>
              <a:t>🧠 AiProff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rIns="731520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EDGEMINDS Internship 2026 – Project Summary and Final Report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9144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1000" b="1">
                <a:solidFill>
                  <a:srgbClr val="FFFFFF"/>
                </a:solidFill>
              </a:defRPr>
            </a:pPr>
            <a: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728655" cy="640080"/>
          </a:xfrm>
          <a:prstGeom prst="roundRect">
            <a:avLst/>
          </a:prstGeom>
          <a:solidFill>
            <a:srgbClr val="F0FDF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37160" rIns="137160" bIns="137160" wrap="square"/>
          <a:lstStyle/>
          <a:p>
            <a:pPr algn="ctr">
              <a:defRPr sz="1100" b="1">
                <a:solidFill>
                  <a:srgbClr val="0F172A"/>
                </a:solidFill>
              </a:defRPr>
            </a:pPr>
            <a:r>
              <a:t>Formula: Total Score = Σ [(Jury Rating ÷ 10) × Criterion Weight]    Example: Functionality rating 8/10 = 24/30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31520" y="2468880"/>
          <a:ext cx="10728655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22960"/>
                <a:gridCol w="5882335"/>
                <a:gridCol w="1005840"/>
                <a:gridCol w="1005840"/>
              </a:tblGrid>
              <a:tr h="39624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Criterion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Wt.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What to evaluate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Rating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Score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Functionality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D9488"/>
                          </a:solidFill>
                        </a:defRPr>
                      </a:pPr>
                      <a:r>
                        <a:t>30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75569"/>
                          </a:solidFill>
                        </a:defRPr>
                      </a:pPr>
                      <a:r>
                        <a:t>Works on Jetson, user can complete the core task, output is useful and reliable.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75569"/>
                          </a:solidFill>
                        </a:defRPr>
                      </a:pPr>
                      <a:r>
                        <a:t>1–10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75569"/>
                          </a:solidFill>
                        </a:defRPr>
                      </a:pPr>
                      <a:r>
                        <a:t>__ /30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Innovation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D9488"/>
                          </a:solidFill>
                        </a:defRPr>
                      </a:pPr>
                      <a:r>
                        <a:t>25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75569"/>
                          </a:solidFill>
                        </a:defRPr>
                      </a:pPr>
                      <a:r>
                        <a:t>Novel idea, real problem fit, creative implementation, goes beyond starter template.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75569"/>
                          </a:solidFill>
                        </a:defRPr>
                      </a:pPr>
                      <a:r>
                        <a:t>1–10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75569"/>
                          </a:solidFill>
                        </a:defRPr>
                      </a:pPr>
                      <a:r>
                        <a:t>__ /25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Edge-Readiness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D9488"/>
                          </a:solidFill>
                        </a:defRPr>
                      </a:pPr>
                      <a:r>
                        <a:t>20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75569"/>
                          </a:solidFill>
                        </a:defRPr>
                      </a:pPr>
                      <a:r>
                        <a:t>Offline operation, latency, memory usage, efficient model/tool usage on Jetson.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75569"/>
                          </a:solidFill>
                        </a:defRPr>
                      </a:pPr>
                      <a:r>
                        <a:t>1–10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75569"/>
                          </a:solidFill>
                        </a:defRPr>
                      </a:pPr>
                      <a:r>
                        <a:t>__ /20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Technical Quality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D9488"/>
                          </a:solidFill>
                        </a:defRPr>
                      </a:pPr>
                      <a:r>
                        <a:t>15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75569"/>
                          </a:solidFill>
                        </a:defRPr>
                      </a:pPr>
                      <a:r>
                        <a:t>Clean architecture, readable code, error handling, README, meaningful Git history.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75569"/>
                          </a:solidFill>
                        </a:defRPr>
                      </a:pPr>
                      <a:r>
                        <a:t>1–10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75569"/>
                          </a:solidFill>
                        </a:defRPr>
                      </a:pPr>
                      <a:r>
                        <a:t>__ /15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</a:defRPr>
                      </a:pPr>
                      <a:r>
                        <a:t>Presentation &amp; Demo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D9488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75569"/>
                          </a:solidFill>
                        </a:defRPr>
                      </a:pPr>
                      <a:r>
                        <a:t>Clear story, confident live demo, explains why edge deployment is the right choice.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75569"/>
                          </a:solidFill>
                        </a:defRPr>
                      </a:pPr>
                      <a:r>
                        <a:t>1–10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475569"/>
                          </a:solidFill>
                        </a:defRPr>
                      </a:pPr>
                      <a:r>
                        <a:t>__ /10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731520" y="5029200"/>
            <a:ext cx="5212080" cy="9144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tIns="109728" rIns="109728" bIns="109728" wrap="square"/>
          <a:lstStyle/>
          <a:p>
            <a:pPr algn="ctr">
              <a:defRPr sz="1200" b="1">
                <a:solidFill>
                  <a:srgbClr val="0F172A"/>
                </a:solidFill>
              </a:defRPr>
            </a:pPr>
            <a:r>
              <a:t>Rating anchors</a:t>
            </a:r>
          </a:p>
          <a:p>
            <a:pPr>
              <a:spcBef>
                <a:spcPts val="200"/>
              </a:spcBef>
              <a:defRPr sz="1050">
                <a:solidFill>
                  <a:srgbClr val="475569"/>
                </a:solidFill>
              </a:defRPr>
            </a:pPr>
            <a:r>
              <a:t>1–2 Poor  |  3–4 Basic  |  5–6 Working  |  7–8 Strong  |  9–10 Excellent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8095" y="5029200"/>
            <a:ext cx="5212080" cy="9144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tIns="109728" rIns="109728" bIns="109728" wrap="square"/>
          <a:lstStyle/>
          <a:p>
            <a:pPr algn="ctr">
              <a:defRPr sz="1200" b="1">
                <a:solidFill>
                  <a:srgbClr val="0F172A"/>
                </a:solidFill>
              </a:defRPr>
            </a:pPr>
            <a:r>
              <a:t>Ranking rules</a:t>
            </a:r>
          </a:p>
          <a:p>
            <a:pPr>
              <a:spcBef>
                <a:spcPts val="200"/>
              </a:spcBef>
              <a:defRPr sz="1000">
                <a:solidFill>
                  <a:srgbClr val="475569"/>
                </a:solidFill>
              </a:defRPr>
            </a:pPr>
            <a:r>
              <a:t>Rank by total score out of 100. Tie-breakers: Functionality ➔ Edge-Readiness ➔ Innovation.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